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411480"/>
            <a:ext cx="914400" cy="914400"/>
          </a:xfrm>
          <a:prstGeom prst="ellipse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1051560"/>
            <a:ext cx="320040" cy="320040"/>
          </a:xfrm>
          <a:prstGeom prst="ellipse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5577840"/>
            <a:ext cx="411480" cy="411480"/>
          </a:xfrm>
          <a:prstGeom prst="ellipse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4600" b="1">
                <a:solidFill>
                  <a:srgbClr val="FFFFFF"/>
                </a:solidFill>
                <a:latin typeface="Arial"/>
              </a:rPr>
              <a:t>رياحين القرآن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0">
                <a:solidFill>
                  <a:srgbClr val="E6DCBE"/>
                </a:solidFill>
                <a:latin typeface="Arial"/>
              </a:rPr>
              <a:t>نزهة الأرواح في رياض كتاب الله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Arial"/>
              </a:rPr>
              <a:t>منصة رقمية لأكاديمية تحفيظ القرآن الكريم عن بُعد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Arial"/>
              </a:rPr>
              <a:t>DIGITAL PRODUCT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1F4E79"/>
                </a:solidFill>
                <a:latin typeface="Arial"/>
              </a:rPr>
              <a:t>من فكرة تعليمية إلى تجربة رقمية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B8860B"/>
                </a:solidFill>
                <a:latin typeface="Arial"/>
              </a:rPr>
              <a:t>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5156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>
                <a:solidFill>
                  <a:srgbClr val="1F4E79"/>
                </a:solidFill>
                <a:latin typeface="Arial"/>
              </a:rPr>
              <a:t>رياحين القرآن تحوّل رحلة التسجيل والمتابعة إلى تجربة رقمية واضحة، منظمة، وقابلة للتوسع.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88552" y="274320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53144" y="2971800"/>
            <a:ext cx="21854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1">
                <a:solidFill>
                  <a:srgbClr val="1F4E79"/>
                </a:solidFill>
                <a:latin typeface="Arial"/>
              </a:rPr>
              <a:t>التسجيل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53144" y="3493008"/>
            <a:ext cx="218541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رحلة متعددة الخطوات بدل نموذج طويل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274320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2971800"/>
            <a:ext cx="21854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1">
                <a:solidFill>
                  <a:srgbClr val="1F4E79"/>
                </a:solidFill>
                <a:latin typeface="Arial"/>
              </a:rPr>
              <a:t>التنظيم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8504" y="3493008"/>
            <a:ext cx="218541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جمع بيانات الطالب بصورة مرتبة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274320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2971800"/>
            <a:ext cx="21854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1">
                <a:solidFill>
                  <a:srgbClr val="1F4E79"/>
                </a:solidFill>
                <a:latin typeface="Arial"/>
              </a:rPr>
              <a:t>المتابعة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3493008"/>
            <a:ext cx="218541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مؤشرات للحفظ والحضور والمستوى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1" y="274320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3" y="2971800"/>
            <a:ext cx="21854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1">
                <a:solidFill>
                  <a:srgbClr val="1F4E79"/>
                </a:solidFill>
                <a:latin typeface="Arial"/>
              </a:rPr>
              <a:t>التواصل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3" y="3493008"/>
            <a:ext cx="218541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تحويل الطلب إلى رسالة WhatsApp منظمة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8860B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1F4E79"/>
                </a:solidFill>
                <a:latin typeface="Arial"/>
              </a:rPr>
              <a:t>لماذا نحتاج إلى تجربة رقمية؟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B8860B"/>
                </a:solidFill>
                <a:latin typeface="Arial"/>
              </a:rPr>
              <a:t>THE PROBLEM → 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5156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48920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874519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>
                <a:solidFill>
                  <a:srgbClr val="922B21"/>
                </a:solidFill>
                <a:latin typeface="Arial"/>
              </a:rPr>
              <a:t>التحدي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251460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333333"/>
                </a:solidFill>
                <a:latin typeface="Arial"/>
              </a:rPr>
              <a:t>• التسجيل اليدوي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990088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333333"/>
                </a:solidFill>
                <a:latin typeface="Arial"/>
              </a:rPr>
              <a:t>• تكرار الأسئلة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3465576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333333"/>
                </a:solidFill>
                <a:latin typeface="Arial"/>
              </a:rPr>
              <a:t>• بيانات غير منظمة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3941064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333333"/>
                </a:solidFill>
                <a:latin typeface="Arial"/>
              </a:rPr>
              <a:t>• صعوبة معرفة خطة الحفظ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4416552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333333"/>
                </a:solidFill>
                <a:latin typeface="Arial"/>
              </a:rPr>
              <a:t>• متابعة الحضور بشكل مبعثر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9204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333333"/>
                </a:solidFill>
                <a:latin typeface="Arial"/>
              </a:rPr>
              <a:t>• تواصل غير منظم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645920"/>
            <a:ext cx="4892040" cy="420624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1874519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Arial"/>
              </a:rPr>
              <a:t>الحل الرقمي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1460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Arial"/>
              </a:rPr>
              <a:t>✓ تسجيل خطوة بخطوة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990088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Arial"/>
              </a:rPr>
              <a:t>✓ اختيارات بحثية منظمة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465576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Arial"/>
              </a:rPr>
              <a:t>✓ ربط الجزء بالسور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941064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Arial"/>
              </a:rPr>
              <a:t>✓ تحقق من المدخلات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416552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Arial"/>
              </a:rPr>
              <a:t>✓ مؤشرات تقدم واضحة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89204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Arial"/>
              </a:rPr>
              <a:t>✓ إرسال مباشر عبر WhatsApp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8860B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1F4E79"/>
                </a:solidFill>
                <a:latin typeface="Arial"/>
              </a:rPr>
              <a:t>رحلة التسجيل من البداية إلى التواصل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B8860B"/>
                </a:solidFill>
                <a:latin typeface="Arial"/>
              </a:rPr>
              <a:t>USER JOURNEY — RTL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5156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61320" y="1600200"/>
            <a:ext cx="1691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71048" y="170992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8860B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20574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الجنس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600200"/>
            <a:ext cx="1691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0768" y="170992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8860B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20574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الاسم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600200"/>
            <a:ext cx="1691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70992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8860B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0574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العمر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600200"/>
            <a:ext cx="1691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170992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8860B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20574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الدولة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00200" y="1600200"/>
            <a:ext cx="1691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09928" y="170992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8860B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20574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الجزء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61320" y="3657600"/>
            <a:ext cx="1691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71048" y="376732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8860B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5912" y="41148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السورة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657600"/>
            <a:ext cx="1691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376732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8860B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41148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الحلقات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3657600"/>
            <a:ext cx="1691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376732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8860B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41148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المدة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3657600"/>
            <a:ext cx="1691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50208" y="376732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8860B"/>
                </a:solidFill>
                <a:latin typeface="Arial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5072" y="41148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واتساب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00200" y="3657600"/>
            <a:ext cx="1691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09928" y="376732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8860B"/>
                </a:solidFill>
                <a:latin typeface="Arial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64792" y="41148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إرسال الطلب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8860B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1F4E79"/>
                </a:solidFill>
                <a:latin typeface="Arial"/>
              </a:rPr>
              <a:t>تجربة تسجيل مصممة خطوة بخطوة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B8860B"/>
                </a:solidFill>
                <a:latin typeface="Arial"/>
              </a:rPr>
              <a:t>REGISTRATION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5156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66560" y="1508760"/>
            <a:ext cx="44805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1783080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1F4E79"/>
                </a:solidFill>
                <a:latin typeface="Arial"/>
              </a:rPr>
              <a:t>سجّلي الآن في رياحين القرآن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423160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333333"/>
                </a:solidFill>
                <a:latin typeface="Arial"/>
              </a:rPr>
              <a:t>هل الطالب ذكر أم أنثى؟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2926080"/>
            <a:ext cx="15087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89720" y="2990088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Arial"/>
              </a:rPr>
              <a:t>ذكر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926080"/>
            <a:ext cx="15087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2990088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Arial"/>
              </a:rPr>
              <a:t>أنثى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886200"/>
            <a:ext cx="3840480" cy="566928"/>
          </a:xfrm>
          <a:prstGeom prst="round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3977639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اكتب الاسم هنا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4800600"/>
            <a:ext cx="3840480" cy="566928"/>
          </a:xfrm>
          <a:prstGeom prst="round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4873752"/>
            <a:ext cx="3840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التالي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874519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500" b="1">
                <a:solidFill>
                  <a:srgbClr val="1F4E79"/>
                </a:solidFill>
                <a:latin typeface="Arial"/>
              </a:rPr>
              <a:t>بدل Form طويل، ينتقل المستخدم بين خطوات واضحة.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43200"/>
            <a:ext cx="484632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700" b="0">
                <a:solidFill>
                  <a:srgbClr val="333333"/>
                </a:solidFill>
                <a:latin typeface="Arial"/>
              </a:rPr>
              <a:t>• جنس الطالب
• الاسم والعمر
• الدولة
• الجزء والسورة
• عدد الحلقات ومدة الحلقة
• رقم واتساب ولي الأمر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8860B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1F4E79"/>
                </a:solidFill>
                <a:latin typeface="Arial"/>
              </a:rPr>
              <a:t>اختيارات مترابطة تقلل الأخطاء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B8860B"/>
                </a:solidFill>
                <a:latin typeface="Arial"/>
              </a:rPr>
              <a:t>SMART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5156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3252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7112" y="1783080"/>
            <a:ext cx="2880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1">
                <a:solidFill>
                  <a:srgbClr val="1F4E79"/>
                </a:solidFill>
                <a:latin typeface="Arial"/>
              </a:rPr>
              <a:t>الدولة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7112" y="2313432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بحث + اختيار من قائمة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02352" y="1783080"/>
            <a:ext cx="2880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1">
                <a:solidFill>
                  <a:srgbClr val="1F4E79"/>
                </a:solidFill>
                <a:latin typeface="Arial"/>
              </a:rPr>
              <a:t>الجزء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2352" y="2313432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بحث داخل 30 جزءًا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07592" y="1783080"/>
            <a:ext cx="2880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1">
                <a:solidFill>
                  <a:srgbClr val="1F4E79"/>
                </a:solidFill>
                <a:latin typeface="Arial"/>
              </a:rPr>
              <a:t>السورة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313432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تُعرض وفق الجزء المختار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356616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7112" y="3749039"/>
            <a:ext cx="2880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1">
                <a:solidFill>
                  <a:srgbClr val="1F4E79"/>
                </a:solidFill>
                <a:latin typeface="Arial"/>
              </a:rPr>
              <a:t>العمر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4279392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Stepper من 5 إلى 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356616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3749039"/>
            <a:ext cx="2880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1">
                <a:solidFill>
                  <a:srgbClr val="1F4E79"/>
                </a:solidFill>
                <a:latin typeface="Arial"/>
              </a:rPr>
              <a:t>الحلقات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4279392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Stepper من 1 إلى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56616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07592" y="3749039"/>
            <a:ext cx="2880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1">
                <a:solidFill>
                  <a:srgbClr val="1F4E79"/>
                </a:solidFill>
                <a:latin typeface="Arial"/>
              </a:rPr>
              <a:t>المدة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592" y="4279392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3 خيارات للحلقة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71500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B8860B"/>
                </a:solidFill>
                <a:latin typeface="Arial"/>
              </a:rPr>
              <a:t>اختيار الجزء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696712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B8860B"/>
                </a:solidFill>
                <a:latin typeface="Arial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71500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B8860B"/>
                </a:solidFill>
                <a:latin typeface="Arial"/>
              </a:rPr>
              <a:t>السور المرتبطة به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8860B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1F4E79"/>
                </a:solidFill>
                <a:latin typeface="Arial"/>
              </a:rPr>
              <a:t>30 جزءًا… وتجربة اختيار منظمة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B8860B"/>
                </a:solidFill>
                <a:latin typeface="Arial"/>
              </a:rPr>
              <a:t>QURAN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5156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1691640"/>
            <a:ext cx="32004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0" b="1">
                <a:solidFill>
                  <a:srgbClr val="1F4E79"/>
                </a:solidFill>
                <a:latin typeface="Arial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74320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B8860B"/>
                </a:solidFill>
                <a:latin typeface="Arial"/>
              </a:rPr>
              <a:t>جزءًا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3657600"/>
            <a:ext cx="4160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3822191"/>
            <a:ext cx="3794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Arial"/>
              </a:rPr>
              <a:t>Selected Juz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45920"/>
            <a:ext cx="4389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792224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1F4E79"/>
                </a:solidFill>
                <a:latin typeface="Arial"/>
              </a:rPr>
              <a:t>الجزء المختار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2880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rial"/>
              </a:rPr>
              <a:t>Selected Juz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017520"/>
            <a:ext cx="4389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1F4E79"/>
                </a:solidFill>
                <a:latin typeface="Arial"/>
              </a:rPr>
              <a:t>السور المرتبطة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0040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rial"/>
              </a:rPr>
              <a:t>Available Surahs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389120"/>
            <a:ext cx="4389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535424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1F4E79"/>
                </a:solidFill>
                <a:latin typeface="Arial"/>
              </a:rPr>
              <a:t>السورة القادمة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57200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rial"/>
              </a:rPr>
              <a:t>Next Surah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696969"/>
                </a:solidFill>
                <a:latin typeface="Arial"/>
              </a:rPr>
              <a:t>النظام يستخدم بيانات الاختيار والتنظيم، وليس قاعدة بيانات كاملة لنص القرآن.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8860B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1F4E79"/>
                </a:solidFill>
                <a:latin typeface="Arial"/>
              </a:rPr>
              <a:t>النظام لا يكتفي بجمع البيانات… بل يتحقق منها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B8860B"/>
                </a:solidFill>
                <a:latin typeface="Arial"/>
              </a:rPr>
              <a:t>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5156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3252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18288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E8449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1801368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1F4E79"/>
                </a:solidFill>
                <a:latin typeface="Arial"/>
              </a:rPr>
              <a:t>الاسم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33688" y="2350008"/>
            <a:ext cx="2788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96969"/>
                </a:solidFill>
                <a:latin typeface="Arial"/>
              </a:rPr>
              <a:t>يجب أن يكون صحيحًا وبالعربية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8288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E8449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801368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1F4E79"/>
                </a:solidFill>
                <a:latin typeface="Arial"/>
              </a:rPr>
              <a:t>الدولة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2350008"/>
            <a:ext cx="2788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96969"/>
                </a:solidFill>
                <a:latin typeface="Arial"/>
              </a:rPr>
              <a:t>يجب اختيار دولة من القائمة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18288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E8449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801368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1F4E79"/>
                </a:solidFill>
                <a:latin typeface="Arial"/>
              </a:rPr>
              <a:t>الجزء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2350008"/>
            <a:ext cx="2788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96969"/>
                </a:solidFill>
                <a:latin typeface="Arial"/>
              </a:rPr>
              <a:t>يجب اختيار جزء من القائمة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356616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3794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E8449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767328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1F4E79"/>
                </a:solidFill>
                <a:latin typeface="Arial"/>
              </a:rPr>
              <a:t>السورة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4315968"/>
            <a:ext cx="2788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96969"/>
                </a:solidFill>
                <a:latin typeface="Arial"/>
              </a:rPr>
              <a:t>يجب اختيار سورة متاحة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56616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3794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E8449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3767328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1F4E79"/>
                </a:solidFill>
                <a:latin typeface="Arial"/>
              </a:rPr>
              <a:t>المدة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4315968"/>
            <a:ext cx="2788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96969"/>
                </a:solidFill>
                <a:latin typeface="Arial"/>
              </a:rPr>
              <a:t>يجب تحديد مدة الحلقة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356616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3794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E8449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767328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1F4E79"/>
                </a:solidFill>
                <a:latin typeface="Arial"/>
              </a:rPr>
              <a:t>الهاتف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4315968"/>
            <a:ext cx="2788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96969"/>
                </a:solidFill>
                <a:latin typeface="Arial"/>
              </a:rPr>
              <a:t>01 + 9 أرقام = 11 رقمًا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8860B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1F4E79"/>
                </a:solidFill>
                <a:latin typeface="Arial"/>
              </a:rPr>
              <a:t>من التسجيل إلى WhatsApp في خطوة واحدة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B8860B"/>
                </a:solidFill>
                <a:latin typeface="Arial"/>
              </a:rPr>
              <a:t>WHATSAPP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5156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1508760"/>
            <a:ext cx="4754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78308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1F4E79"/>
                </a:solidFill>
                <a:latin typeface="Arial"/>
              </a:rPr>
              <a:t>طلب تسجيل جديد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423160"/>
            <a:ext cx="402336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333333"/>
                </a:solidFill>
                <a:latin typeface="Arial"/>
              </a:rPr>
              <a:t>السلام عليكم، أرغب في التسجيل...
الاسم: أحمد محمد
العمر: 12 سنة
الدولة: مصر
ما يحفظه: الجزء الثلاثون
السورة القادمة: النبأ
عدد الحلقات: 2
مدة الحلقة: ساعة كاملة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5212080"/>
            <a:ext cx="4023360" cy="502920"/>
          </a:xfrm>
          <a:prstGeom prst="roundRect">
            <a:avLst/>
          </a:prstGeom>
          <a:solidFill>
            <a:srgbClr val="25D366"/>
          </a:solidFill>
          <a:ln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5285232"/>
            <a:ext cx="4023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إرسال عبر WhatsApp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4846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500" b="1">
                <a:solidFill>
                  <a:srgbClr val="1F4E79"/>
                </a:solidFill>
                <a:latin typeface="Arial"/>
              </a:rPr>
              <a:t>JavaScript يجمع البيانات في رسالة واحدة منظمة ثم يفتح WhatsApp.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663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700" b="0">
                <a:solidFill>
                  <a:srgbClr val="333333"/>
                </a:solidFill>
                <a:latin typeface="Arial"/>
              </a:rPr>
              <a:t>النتيجة: طلب واضح يمكن لولي الأمر إرساله مباشرة إلى الأكاديمية.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8860B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1F4E79"/>
                </a:solidFill>
                <a:latin typeface="Arial"/>
              </a:rPr>
              <a:t>متابعة تقدم الطالبات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B8860B"/>
                </a:solidFill>
                <a:latin typeface="Arial"/>
              </a:rPr>
              <a:t>STUDENT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5156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32520" y="1508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1673351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1F4E79"/>
                </a:solidFill>
                <a:latin typeface="Arial"/>
              </a:rPr>
              <a:t>سارة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2075688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B8860B"/>
                </a:solidFill>
                <a:latin typeface="Arial"/>
              </a:rPr>
              <a:t>مبتدئة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2075688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96969"/>
                </a:solidFill>
                <a:latin typeface="Arial"/>
              </a:rPr>
              <a:t>6 / 114 سورة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2468880"/>
            <a:ext cx="3063240" cy="146304"/>
          </a:xfrm>
          <a:prstGeom prst="round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15400" y="2468880"/>
            <a:ext cx="161223" cy="146304"/>
          </a:xfrm>
          <a:prstGeom prst="round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274320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Arial"/>
              </a:rPr>
              <a:t>آخر سورة: الكوثر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274320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E8449"/>
                </a:solidFill>
                <a:latin typeface="Arial"/>
              </a:rPr>
              <a:t>الحضور 92%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508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73351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1F4E79"/>
                </a:solidFill>
                <a:latin typeface="Arial"/>
              </a:rPr>
              <a:t>نور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75688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B8860B"/>
                </a:solidFill>
                <a:latin typeface="Arial"/>
              </a:rPr>
              <a:t>متوسطة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75688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96969"/>
                </a:solidFill>
                <a:latin typeface="Arial"/>
              </a:rPr>
              <a:t>18 / 114 سورة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468880"/>
            <a:ext cx="3063240" cy="146304"/>
          </a:xfrm>
          <a:prstGeom prst="round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0" y="2468880"/>
            <a:ext cx="483669" cy="146304"/>
          </a:xfrm>
          <a:prstGeom prst="round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74320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Arial"/>
              </a:rPr>
              <a:t>آخر سورة: الملك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74320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Arial"/>
              </a:rPr>
              <a:t>الحضور 78%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3794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395935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1F4E79"/>
                </a:solidFill>
                <a:latin typeface="Arial"/>
              </a:rPr>
              <a:t>هدى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361688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B8860B"/>
                </a:solidFill>
                <a:latin typeface="Arial"/>
              </a:rPr>
              <a:t>متقدمة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4361688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96969"/>
                </a:solidFill>
                <a:latin typeface="Arial"/>
              </a:rPr>
              <a:t>28 / 114 سورة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4754880"/>
            <a:ext cx="3063240" cy="146304"/>
          </a:xfrm>
          <a:prstGeom prst="round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15400" y="4754880"/>
            <a:ext cx="752374" cy="146304"/>
          </a:xfrm>
          <a:prstGeom prst="round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502920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Arial"/>
              </a:rPr>
              <a:t>آخر سورة: النبأ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502920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E8449"/>
                </a:solidFill>
                <a:latin typeface="Arial"/>
              </a:rPr>
              <a:t>الحضور 88%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3794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395935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1F4E79"/>
                </a:solidFill>
                <a:latin typeface="Arial"/>
              </a:rPr>
              <a:t>ريم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361688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B8860B"/>
                </a:solidFill>
                <a:latin typeface="Arial"/>
              </a:rPr>
              <a:t>مبتدئة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361688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96969"/>
                </a:solidFill>
                <a:latin typeface="Arial"/>
              </a:rPr>
              <a:t>3 / 114 سورة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4754880"/>
            <a:ext cx="3063240" cy="146304"/>
          </a:xfrm>
          <a:prstGeom prst="round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0" y="4754880"/>
            <a:ext cx="80611" cy="146304"/>
          </a:xfrm>
          <a:prstGeom prst="round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502920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Arial"/>
              </a:rPr>
              <a:t>آخر سورة: الفاتحة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502920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22B21"/>
                </a:solidFill>
                <a:latin typeface="Arial"/>
              </a:rPr>
              <a:t>الحضور 45%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8978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B8860B"/>
                </a:solidFill>
                <a:latin typeface="Arial"/>
              </a:rPr>
              <a:t>Demo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8860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1F4E79"/>
                </a:solidFill>
                <a:latin typeface="Arial"/>
              </a:rPr>
              <a:t>تحويل التقدم إلى مؤشرات واضحة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B8860B"/>
                </a:solidFill>
                <a:latin typeface="Arial"/>
              </a:rPr>
              <a:t>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5156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32520" y="16002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1828800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4E79"/>
                </a:solidFill>
                <a:latin typeface="Arial"/>
              </a:rPr>
              <a:t>114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2423160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8860B"/>
                </a:solidFill>
                <a:latin typeface="Arial"/>
              </a:rPr>
              <a:t>سورة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6002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828800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4E79"/>
                </a:solidFill>
                <a:latin typeface="Arial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423160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8860B"/>
                </a:solidFill>
                <a:latin typeface="Arial"/>
              </a:rPr>
              <a:t>جزءًا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6002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28800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4E79"/>
                </a:solidFill>
                <a:latin typeface="Arial"/>
              </a:rPr>
              <a:t>85%+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23160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8860B"/>
                </a:solidFill>
                <a:latin typeface="Arial"/>
              </a:rPr>
              <a:t>ممتاز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6002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828800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4E79"/>
                </a:solidFill>
                <a:latin typeface="Arial"/>
              </a:rPr>
              <a:t>70–84%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423160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8860B"/>
                </a:solidFill>
                <a:latin typeface="Arial"/>
              </a:rPr>
              <a:t>جيد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474720"/>
            <a:ext cx="10241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3075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1F4E79"/>
                </a:solidFill>
                <a:latin typeface="Arial"/>
              </a:rPr>
              <a:t>تصنيف الحضور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73075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E8449"/>
                </a:solidFill>
                <a:latin typeface="Arial"/>
              </a:rPr>
              <a:t>85% فأكثر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73075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Arial"/>
              </a:rPr>
              <a:t>70% فأكثر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73075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922B21"/>
                </a:solidFill>
                <a:latin typeface="Arial"/>
              </a:rPr>
              <a:t>أقل من 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25196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696969"/>
                </a:solidFill>
                <a:latin typeface="Arial"/>
              </a:rPr>
              <a:t>ممتاز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25196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696969"/>
                </a:solidFill>
                <a:latin typeface="Arial"/>
              </a:rPr>
              <a:t>جيد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425196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696969"/>
                </a:solidFill>
                <a:latin typeface="Arial"/>
              </a:rPr>
              <a:t>يحتاج متابعة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8860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Arial"/>
              </a:rPr>
              <a:t>هوية رياحين القرآن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B8860B"/>
                </a:solidFill>
                <a:latin typeface="Arial"/>
              </a:rPr>
              <a:t>BRAND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73736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Navy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2240280"/>
            <a:ext cx="2743200" cy="114300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633472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#1F4E79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73736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Gold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240280"/>
            <a:ext cx="2743200" cy="1143000"/>
          </a:xfrm>
          <a:prstGeom prst="round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2633472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#B8860B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Background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240280"/>
            <a:ext cx="274320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33472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Arial"/>
              </a:rPr>
              <a:t>#F5F7FA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10058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«رياحين القرآن — حفظ بثقة، وصحبة بمحبة»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83480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DCDCDC"/>
                </a:solidFill>
                <a:latin typeface="Arial"/>
              </a:rPr>
              <a:t>هوية هادئة تجمع الثقة التعليمية مع لمسة إسلامية راقية.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8860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1F4E79"/>
                </a:solidFill>
                <a:latin typeface="Arial"/>
              </a:rPr>
              <a:t>واجهة واحدة… منظومة متكاملة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B8860B"/>
                </a:solidFill>
                <a:latin typeface="Arial"/>
              </a:rPr>
              <a:t>DIGITAL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5156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8240" y="160020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2832" y="1764792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19" y="213055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Arial"/>
              </a:rPr>
              <a:t>الرئيسية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0020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1" y="1764792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3055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Arial"/>
              </a:rPr>
              <a:t>من نحن؟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160020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1764792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3055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Arial"/>
              </a:rPr>
              <a:t>سجّل الآن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39" y="160020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1" y="1764792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213055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Arial"/>
              </a:rPr>
              <a:t>شعارنا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352044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3685032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Arial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4050791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Arial"/>
              </a:rPr>
              <a:t>تقدم الطالبات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52044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3685032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Arial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050791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Arial"/>
              </a:rPr>
              <a:t>معرض التصاميم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39" y="352044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6432" y="3685032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Arial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050791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Arial"/>
              </a:rPr>
              <a:t>قائمة التحقق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39" y="352044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1" y="3685032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Arial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19" y="4050791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Arial"/>
              </a:rPr>
              <a:t>Facebook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Arial"/>
              </a:rPr>
              <a:t>المشروع يجمع تجربة التعريف + التسجيل + المتابعة + المحتوى في واجهة واحدة.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8860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1F4E79"/>
                </a:solidFill>
                <a:latin typeface="Arial"/>
              </a:rPr>
              <a:t>المحتوى الديني يحتاج إلى مراجعة بشرية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B8860B"/>
                </a:solidFill>
                <a:latin typeface="Arial"/>
              </a:rPr>
              <a:t>CONTENT QUALITY &amp;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5156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600200"/>
            <a:ext cx="8503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38360" y="176479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E8449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764792"/>
            <a:ext cx="7132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Arial"/>
              </a:rPr>
              <a:t>مطابقة أي آية مع مصحف مطبوع معتمد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651760"/>
            <a:ext cx="8503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281635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E8449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816352"/>
            <a:ext cx="7132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Arial"/>
              </a:rPr>
              <a:t>التأكد من نسبة الحديث إلى مصدره الصحيح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703320"/>
            <a:ext cx="8503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60" y="3867911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E8449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867911"/>
            <a:ext cx="7132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Arial"/>
              </a:rPr>
              <a:t>مراجعة المحتوى بواسطة شخص مؤهل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754879"/>
            <a:ext cx="8503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360" y="4919471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E8449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919471"/>
            <a:ext cx="7132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Arial"/>
              </a:rPr>
              <a:t>تصنيف AI كمساعدة وليس كفتوى نهائية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978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B8860B"/>
                </a:solidFill>
                <a:latin typeface="Arial"/>
              </a:rPr>
              <a:t>Human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8860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3400" b="1">
                <a:solidFill>
                  <a:srgbClr val="FFFFFF"/>
                </a:solidFill>
                <a:latin typeface="Arial"/>
              </a:rPr>
              <a:t>منصة اليوم… منظومة الغد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B8860B"/>
                </a:solidFill>
                <a:latin typeface="Arial"/>
              </a:rPr>
              <a:t>Future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23960" y="2148840"/>
            <a:ext cx="2240280" cy="868680"/>
          </a:xfrm>
          <a:prstGeom prst="roundRect">
            <a:avLst/>
          </a:prstGeom>
          <a:solidFill>
            <a:srgbClr val="265B89"/>
          </a:solidFill>
          <a:ln>
            <a:solidFill>
              <a:srgbClr val="50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33688" y="2395728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Student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148840"/>
            <a:ext cx="2240280" cy="868680"/>
          </a:xfrm>
          <a:prstGeom prst="roundRect">
            <a:avLst/>
          </a:prstGeom>
          <a:solidFill>
            <a:srgbClr val="265B89"/>
          </a:solidFill>
          <a:ln>
            <a:solidFill>
              <a:srgbClr val="50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1928" y="2395728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Teacher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148840"/>
            <a:ext cx="2240280" cy="868680"/>
          </a:xfrm>
          <a:prstGeom prst="roundRect">
            <a:avLst/>
          </a:prstGeom>
          <a:solidFill>
            <a:srgbClr val="265B89"/>
          </a:solidFill>
          <a:ln>
            <a:solidFill>
              <a:srgbClr val="50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2395728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Database حقيقية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48840"/>
            <a:ext cx="2240280" cy="868680"/>
          </a:xfrm>
          <a:prstGeom prst="roundRect">
            <a:avLst/>
          </a:prstGeom>
          <a:solidFill>
            <a:srgbClr val="265B89"/>
          </a:solidFill>
          <a:ln>
            <a:solidFill>
              <a:srgbClr val="50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395728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تقارير تلقائية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474720"/>
            <a:ext cx="2240280" cy="868680"/>
          </a:xfrm>
          <a:prstGeom prst="roundRect">
            <a:avLst/>
          </a:prstGeom>
          <a:solidFill>
            <a:srgbClr val="265B89"/>
          </a:solidFill>
          <a:ln>
            <a:solidFill>
              <a:srgbClr val="50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33688" y="3721608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حسابات المستخدمين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474720"/>
            <a:ext cx="2240280" cy="868680"/>
          </a:xfrm>
          <a:prstGeom prst="roundRect">
            <a:avLst/>
          </a:prstGeom>
          <a:solidFill>
            <a:srgbClr val="265B89"/>
          </a:solidFill>
          <a:ln>
            <a:solidFill>
              <a:srgbClr val="50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3721608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الدفع الإلكتروني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3474720"/>
            <a:ext cx="2240280" cy="868680"/>
          </a:xfrm>
          <a:prstGeom prst="roundRect">
            <a:avLst/>
          </a:prstGeom>
          <a:solidFill>
            <a:srgbClr val="265B89"/>
          </a:solidFill>
          <a:ln>
            <a:solidFill>
              <a:srgbClr val="50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0168" y="3721608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474720"/>
            <a:ext cx="2240280" cy="868680"/>
          </a:xfrm>
          <a:prstGeom prst="roundRect">
            <a:avLst/>
          </a:prstGeom>
          <a:solidFill>
            <a:srgbClr val="265B89"/>
          </a:solidFill>
          <a:ln>
            <a:solidFill>
              <a:srgbClr val="50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721608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DCDCDC"/>
                </a:solidFill>
                <a:latin typeface="Arial"/>
              </a:rPr>
              <a:t>هذه أفكار تطوير مستقبلية وليست وظائف مدّعاة في النسخة الحالية.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B8860B"/>
                </a:solidFill>
                <a:latin typeface="Arial"/>
              </a:rPr>
              <a:t>رياحين القرآن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رياحين القرآن — Digital Product Presentation</dc:title>
  <dc:subject>عرض احترافي لمشروع أكاديمية رياحين القرآن</dc:subject>
  <dc:creator>OpenAI</dc:creator>
  <cp:keywords>رياحين القرآن, Quran Academy, RTL, Digital Product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